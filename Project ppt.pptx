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1" r:id="rId3"/>
    <p:sldId id="265" r:id="rId4"/>
    <p:sldId id="289" r:id="rId5"/>
    <p:sldId id="288" r:id="rId6"/>
    <p:sldId id="291" r:id="rId7"/>
    <p:sldId id="290" r:id="rId8"/>
    <p:sldId id="292" r:id="rId9"/>
    <p:sldId id="293" r:id="rId10"/>
    <p:sldId id="294" r:id="rId11"/>
    <p:sldId id="267"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43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619486-87DA-468A-850F-6972FC0A9992}" v="1" dt="2025-01-24T04:55:27.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6E23DE-142B-4D57-A616-6ABD0E7AF31B}" type="datetimeFigureOut">
              <a:rPr lang="en-IN" smtClean="0"/>
              <a:t>14-04-2025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D8B92E-DCF0-42D1-B66F-C5647569086A}" type="slidenum">
              <a:rPr lang="en-IN" smtClean="0"/>
              <a:t>‹#›</a:t>
            </a:fld>
            <a:endParaRPr lang="en-IN"/>
          </a:p>
        </p:txBody>
      </p:sp>
    </p:spTree>
    <p:extLst>
      <p:ext uri="{BB962C8B-B14F-4D97-AF65-F5344CB8AC3E}">
        <p14:creationId xmlns:p14="http://schemas.microsoft.com/office/powerpoint/2010/main" val="3313783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995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460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6280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58D56B34-E3E3-7931-0C34-76D08B5040E1}"/>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049D6E7B-5AC7-1FE0-32D0-6B7FA2919A9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B03C96D6-9472-31D1-2DDF-D90A6A9313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9082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EF367B03-F463-3F9C-1B9E-9721760F28F8}"/>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E667F4AA-0FF2-F8C2-2342-4E67A719FAC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123A179E-72F3-93B9-B9C1-9BFDB2737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662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DD254BBB-BF06-D6F4-E7F0-620FB55B65D8}"/>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D011158A-F737-922A-2E85-38429F610A3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F48E813E-93E9-06E5-050D-B2D7E4F4F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977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2513B9BD-A3E0-2D93-7A13-4E8A99A9B5BB}"/>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46E25856-801B-506B-DEBC-F656D1CC277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F876D60B-8F8D-D00B-13CC-314269CE3F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380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786BA5A6-FF6E-5A7A-2E66-CEE1564098B8}"/>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3F0CBA4D-C826-DAAC-1022-86DB19220B6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EBC6B93C-C600-2969-DC34-7854C230CF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7994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9DDC1592-CD9E-8BC8-96D7-72C8DC09C396}"/>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C46D0DAD-09EB-71CA-6DFD-80E56C427A3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5CA55E68-17E5-6E0A-491F-6C9D48193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141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85457639-5BC8-4906-225D-E34A21CCF27E}"/>
            </a:ext>
          </a:extLst>
        </p:cNvPr>
        <p:cNvGrpSpPr/>
        <p:nvPr/>
      </p:nvGrpSpPr>
      <p:grpSpPr>
        <a:xfrm>
          <a:off x="0" y="0"/>
          <a:ext cx="0" cy="0"/>
          <a:chOff x="0" y="0"/>
          <a:chExt cx="0" cy="0"/>
        </a:xfrm>
      </p:grpSpPr>
      <p:sp>
        <p:nvSpPr>
          <p:cNvPr id="334" name="Google Shape;334;p2:notes">
            <a:extLst>
              <a:ext uri="{FF2B5EF4-FFF2-40B4-BE49-F238E27FC236}">
                <a16:creationId xmlns:a16="http://schemas.microsoft.com/office/drawing/2014/main" id="{C508B593-BE9A-84F4-5757-6FD204E1DAB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a:extLst>
              <a:ext uri="{FF2B5EF4-FFF2-40B4-BE49-F238E27FC236}">
                <a16:creationId xmlns:a16="http://schemas.microsoft.com/office/drawing/2014/main" id="{5C05ABE1-7C35-2C73-405F-3D3E570DFE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0105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099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7737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87FC-0994-C5C8-71BD-350FD38B7B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F4EB30-F28C-214D-3AF3-BD0F345DCD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43C5AD-01EB-F2F9-5EC1-36868A763D30}"/>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65FADD89-54BB-D8AD-93C5-52922AB3F8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858164-5C61-FC30-1F2B-BFBA5C3A78D2}"/>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168372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B0C7F-F747-E782-817B-5F8435B98B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72B9E8-7B37-A72D-6CEA-9B39456D9B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1BE622-BBE4-A01A-863D-2D0102B6A3BF}"/>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6C51E487-42BF-A30A-9128-CD95A07FA3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86F54A-D4ED-A601-9185-37CBE8739791}"/>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4213923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A86C-99E0-F01E-AFCC-DAD73F7627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B7F528-2574-9788-34A7-8E2B46F009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598D99-C060-280E-CE61-9CFDE0FF39AE}"/>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3698D339-7C7C-2A8E-E3B8-B0FD34AA30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02E69B-33BD-4BFE-3DFD-27FEEE12D805}"/>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35805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DC45-819C-E5C2-E34D-D20788C4C2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F106FB-EA64-765D-49DC-7916A4F154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3F0F0E-6086-94CE-CF09-EA473DD26D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465E9A-79F8-8C0F-CCB4-4E941BDABE0B}"/>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6" name="Footer Placeholder 5">
            <a:extLst>
              <a:ext uri="{FF2B5EF4-FFF2-40B4-BE49-F238E27FC236}">
                <a16:creationId xmlns:a16="http://schemas.microsoft.com/office/drawing/2014/main" id="{A3E3C32D-F8E9-B6F7-996D-E1D077F0A2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BB54DD-FD1C-1616-3BF0-05EBCF9B5C33}"/>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1774898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A19E-FB2A-3548-AE58-C9429FA115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436B25-D48E-3EDA-2D6F-ED4FE08B9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FE311B-651A-DC2D-6059-565FB0C34A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8AFFD1-3FB0-564C-5FF0-7633EF52D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7B6820-8E63-1128-54ED-892AD6876C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B1366F-AB1D-2A6F-9EB6-32CCFBB7B2AF}"/>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8" name="Footer Placeholder 7">
            <a:extLst>
              <a:ext uri="{FF2B5EF4-FFF2-40B4-BE49-F238E27FC236}">
                <a16:creationId xmlns:a16="http://schemas.microsoft.com/office/drawing/2014/main" id="{45949058-AEFB-E48F-8E43-7570952757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0FD02B-29BA-FA6B-67C5-43486174E465}"/>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3908190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6E86D-5741-2AED-79E4-CCD55774AE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C4503E7-FAEB-B5D9-2CB1-8C21EC840164}"/>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4" name="Footer Placeholder 3">
            <a:extLst>
              <a:ext uri="{FF2B5EF4-FFF2-40B4-BE49-F238E27FC236}">
                <a16:creationId xmlns:a16="http://schemas.microsoft.com/office/drawing/2014/main" id="{31F08D6F-3C91-13B0-6869-9B0CF4B3FA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57993D-984D-071D-C1BF-A1776DF6D0DD}"/>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1818302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124F19-6BBA-7DD2-151F-E6F92B7B24CD}"/>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3" name="Footer Placeholder 2">
            <a:extLst>
              <a:ext uri="{FF2B5EF4-FFF2-40B4-BE49-F238E27FC236}">
                <a16:creationId xmlns:a16="http://schemas.microsoft.com/office/drawing/2014/main" id="{29139D41-132F-F3E7-0B8A-6F93E7119B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8DF120-A8E6-5A84-E22F-46EAEFDFE3BE}"/>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852024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BE28-3888-20D9-02AB-78D64973AB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31CE4D-CD73-C68F-E9CB-7B1DD4D550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04C4D4-AC22-E079-A5C3-9A8C42CD6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D393C-DCA0-1985-22BD-62060B7CDAAF}"/>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6" name="Footer Placeholder 5">
            <a:extLst>
              <a:ext uri="{FF2B5EF4-FFF2-40B4-BE49-F238E27FC236}">
                <a16:creationId xmlns:a16="http://schemas.microsoft.com/office/drawing/2014/main" id="{B4BB21EB-0472-8B4E-B736-2E4E618757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5613E2-7517-2758-F70A-D22234140812}"/>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3332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19A17-62A6-905A-D790-F830220E2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3A27B5-B3E9-780B-DE8D-0ADE58106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3EEF80-B786-8D59-B265-3F61159C4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7C838-B6DC-BAB4-D705-9FAB085373B6}"/>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6" name="Footer Placeholder 5">
            <a:extLst>
              <a:ext uri="{FF2B5EF4-FFF2-40B4-BE49-F238E27FC236}">
                <a16:creationId xmlns:a16="http://schemas.microsoft.com/office/drawing/2014/main" id="{5504A938-3D37-5424-0028-FF487F54CC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96DFF2-3255-95C8-5955-677AA7F91B8C}"/>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126068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51542-F5B1-4679-4AAD-B900F0E288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4B732B-EEFC-DA5B-4D7F-EA2A748574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13C848-E0B5-93D8-E161-B23F2D22D0D4}"/>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0719DAB0-1665-380B-D164-54418D8B4F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931C60-A10D-3ACE-2E39-B6207CA1FF17}"/>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43968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38D7AC-8815-B85E-9DC1-4F2EC59A14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DB4DD9-E991-E2C1-7E45-7AA3992DC4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B623F-676A-49B0-756C-C179DD93712A}"/>
              </a:ext>
            </a:extLst>
          </p:cNvPr>
          <p:cNvSpPr>
            <a:spLocks noGrp="1"/>
          </p:cNvSpPr>
          <p:nvPr>
            <p:ph type="dt" sz="half" idx="10"/>
          </p:nvPr>
        </p:nvSpPr>
        <p:spPr/>
        <p:txBody>
          <a:body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B00279E2-2DD1-5C20-6832-F9F655B6AC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47872C-8BB5-D221-245C-B79173E50315}"/>
              </a:ext>
            </a:extLst>
          </p:cNvPr>
          <p:cNvSpPr>
            <a:spLocks noGrp="1"/>
          </p:cNvSpPr>
          <p:nvPr>
            <p:ph type="sldNum" sz="quarter" idx="12"/>
          </p:nvPr>
        </p:nvSpPr>
        <p:spPr/>
        <p:txBody>
          <a:bodyPr/>
          <a:lstStyle/>
          <a:p>
            <a:fld id="{E633632E-EBCC-4DD2-9827-E18F9AD12B42}" type="slidenum">
              <a:rPr lang="en-IN" smtClean="0"/>
              <a:t>‹#›</a:t>
            </a:fld>
            <a:endParaRPr lang="en-IN"/>
          </a:p>
        </p:txBody>
      </p:sp>
    </p:spTree>
    <p:extLst>
      <p:ext uri="{BB962C8B-B14F-4D97-AF65-F5344CB8AC3E}">
        <p14:creationId xmlns:p14="http://schemas.microsoft.com/office/powerpoint/2010/main" val="410923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485A48-1CCB-90D2-E783-577A52F24D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B528BD-4AC3-BC37-C585-F040B6F78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A555E4-E1B2-2CEA-9D03-C52CC6B03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383C73-66E3-4FDE-8495-965A0DC368A2}" type="datetimeFigureOut">
              <a:rPr lang="en-IN" smtClean="0"/>
              <a:t>14-04-2025</a:t>
            </a:fld>
            <a:endParaRPr lang="en-IN"/>
          </a:p>
        </p:txBody>
      </p:sp>
      <p:sp>
        <p:nvSpPr>
          <p:cNvPr id="5" name="Footer Placeholder 4">
            <a:extLst>
              <a:ext uri="{FF2B5EF4-FFF2-40B4-BE49-F238E27FC236}">
                <a16:creationId xmlns:a16="http://schemas.microsoft.com/office/drawing/2014/main" id="{2690681B-F8C5-8C60-2BCE-185E7028EB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C0A621-5937-5B50-D841-D5ED9A076D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33632E-EBCC-4DD2-9827-E18F9AD12B42}" type="slidenum">
              <a:rPr lang="en-IN" smtClean="0"/>
              <a:t>‹#›</a:t>
            </a:fld>
            <a:endParaRPr lang="en-IN"/>
          </a:p>
        </p:txBody>
      </p:sp>
    </p:spTree>
    <p:extLst>
      <p:ext uri="{BB962C8B-B14F-4D97-AF65-F5344CB8AC3E}">
        <p14:creationId xmlns:p14="http://schemas.microsoft.com/office/powerpoint/2010/main" val="461975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32DA021@drngpasc.ac.i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52"/>
          <p:cNvSpPr/>
          <p:nvPr/>
        </p:nvSpPr>
        <p:spPr>
          <a:xfrm>
            <a:off x="6058958" y="1905001"/>
            <a:ext cx="184730" cy="1323439"/>
          </a:xfrm>
          <a:prstGeom prst="rect">
            <a:avLst/>
          </a:prstGeom>
          <a:noFill/>
          <a:ln>
            <a:noFill/>
          </a:ln>
        </p:spPr>
        <p:txBody>
          <a:bodyPr spcFirstLastPara="1" wrap="square" lIns="91425" tIns="45700" rIns="91425" bIns="45700" anchor="t" anchorCtr="0">
            <a:noAutofit/>
          </a:bodyPr>
          <a:lstStyle/>
          <a:p>
            <a:pPr algn="ctr"/>
            <a:endParaRPr sz="4000" b="1">
              <a:solidFill>
                <a:srgbClr val="FF0000"/>
              </a:solidFill>
              <a:latin typeface="Calibri"/>
              <a:ea typeface="Calibri"/>
              <a:cs typeface="Calibri"/>
              <a:sym typeface="Calibri"/>
            </a:endParaRPr>
          </a:p>
          <a:p>
            <a:pPr algn="ctr"/>
            <a:endParaRPr sz="4000" b="1">
              <a:solidFill>
                <a:srgbClr val="FCFCFF"/>
              </a:solidFill>
              <a:latin typeface="Calibri"/>
              <a:ea typeface="Calibri"/>
              <a:cs typeface="Calibri"/>
              <a:sym typeface="Calibri"/>
            </a:endParaRPr>
          </a:p>
        </p:txBody>
      </p:sp>
      <p:sp>
        <p:nvSpPr>
          <p:cNvPr id="330" name="Google Shape;330;p52"/>
          <p:cNvSpPr/>
          <p:nvPr/>
        </p:nvSpPr>
        <p:spPr>
          <a:xfrm>
            <a:off x="2134658" y="1308494"/>
            <a:ext cx="7683712" cy="2120506"/>
          </a:xfrm>
          <a:prstGeom prst="rect">
            <a:avLst/>
          </a:prstGeom>
          <a:noFill/>
          <a:ln>
            <a:noFill/>
          </a:ln>
        </p:spPr>
        <p:txBody>
          <a:bodyPr spcFirstLastPara="1" wrap="square" lIns="91425" tIns="45700" rIns="91425" bIns="45700" anchor="t" anchorCtr="0">
            <a:noAutofit/>
          </a:bodyPr>
          <a:lstStyle/>
          <a:p>
            <a:pPr algn="ctr">
              <a:lnSpc>
                <a:spcPct val="150000"/>
              </a:lnSpc>
            </a:pPr>
            <a:r>
              <a:rPr lang="en-US" b="1" dirty="0">
                <a:latin typeface="Times New Roman" panose="02020603050405020304" pitchFamily="18" charset="0"/>
                <a:cs typeface="Times New Roman" panose="02020603050405020304" pitchFamily="18" charset="0"/>
                <a:sym typeface="Aharoni"/>
              </a:rPr>
              <a:t>Nanthitha R</a:t>
            </a:r>
          </a:p>
          <a:p>
            <a:pPr algn="ctr">
              <a:lnSpc>
                <a:spcPct val="150000"/>
              </a:lnSpc>
            </a:pPr>
            <a:r>
              <a:rPr lang="en-US" sz="2000" b="1" dirty="0">
                <a:latin typeface="Times New Roman" panose="02020603050405020304" pitchFamily="18" charset="0"/>
                <a:ea typeface="Bell MT"/>
                <a:cs typeface="Times New Roman" panose="02020603050405020304" pitchFamily="18" charset="0"/>
                <a:sym typeface="Bell MT"/>
              </a:rPr>
              <a:t>232DA021</a:t>
            </a:r>
            <a:br>
              <a:rPr lang="en-US" b="1" dirty="0">
                <a:latin typeface="Times New Roman" panose="02020603050405020304" pitchFamily="18" charset="0"/>
                <a:ea typeface="Bell MT"/>
                <a:cs typeface="Times New Roman" panose="02020603050405020304" pitchFamily="18" charset="0"/>
                <a:sym typeface="Bell MT"/>
              </a:rPr>
            </a:br>
            <a:r>
              <a:rPr lang="en-US" sz="1800" b="1" dirty="0">
                <a:latin typeface="Times New Roman" panose="02020603050405020304" pitchFamily="18" charset="0"/>
                <a:ea typeface="Times New Roman" panose="02020603050405020304" pitchFamily="18" charset="0"/>
              </a:rPr>
              <a:t>ELECTRICITY THEFT DETECTION IN SMART GRIDS BASED ON  DEEP NEURAL NETWORK</a:t>
            </a:r>
            <a:endParaRPr lang="en-US" b="1" dirty="0">
              <a:solidFill>
                <a:srgbClr val="2A43FE"/>
              </a:solidFill>
              <a:latin typeface="Bell MT"/>
              <a:ea typeface="Bell MT"/>
              <a:cs typeface="Bell MT"/>
              <a:sym typeface="Bell MT"/>
            </a:endParaRPr>
          </a:p>
          <a:p>
            <a:pPr algn="ctr">
              <a:lnSpc>
                <a:spcPct val="150000"/>
              </a:lnSpc>
            </a:pPr>
            <a:endParaRPr lang="en-US" b="1" dirty="0">
              <a:latin typeface="Times New Roman" panose="02020603050405020304" pitchFamily="18" charset="0"/>
              <a:ea typeface="Bell MT"/>
              <a:cs typeface="Times New Roman" panose="02020603050405020304" pitchFamily="18" charset="0"/>
              <a:sym typeface="Bell MT"/>
            </a:endParaRPr>
          </a:p>
          <a:p>
            <a:pPr algn="ctr">
              <a:lnSpc>
                <a:spcPct val="150000"/>
              </a:lnSpc>
            </a:pPr>
            <a:r>
              <a:rPr lang="en-US" b="1" dirty="0">
                <a:latin typeface="Times New Roman" panose="02020603050405020304" pitchFamily="18" charset="0"/>
                <a:ea typeface="Bell MT"/>
                <a:cs typeface="Times New Roman" panose="02020603050405020304" pitchFamily="18" charset="0"/>
                <a:sym typeface="Bell MT"/>
              </a:rPr>
              <a:t>E-mail: </a:t>
            </a:r>
            <a:r>
              <a:rPr lang="en-US" b="1" dirty="0">
                <a:latin typeface="Times New Roman" panose="02020603050405020304" pitchFamily="18" charset="0"/>
                <a:ea typeface="Bell MT"/>
                <a:cs typeface="Times New Roman" panose="02020603050405020304" pitchFamily="18" charset="0"/>
                <a:sym typeface="Bell MT"/>
                <a:hlinkClick r:id="rId3"/>
              </a:rPr>
              <a:t>232DA021@drngpasc.ac.in</a:t>
            </a:r>
            <a:endParaRPr lang="en-US" b="1" dirty="0">
              <a:latin typeface="Times New Roman" panose="02020603050405020304" pitchFamily="18" charset="0"/>
              <a:ea typeface="Bell MT"/>
              <a:cs typeface="Times New Roman" panose="02020603050405020304" pitchFamily="18" charset="0"/>
              <a:sym typeface="Bell MT"/>
            </a:endParaRPr>
          </a:p>
          <a:p>
            <a:pPr algn="ctr">
              <a:lnSpc>
                <a:spcPct val="150000"/>
              </a:lnSpc>
            </a:pPr>
            <a:r>
              <a:rPr lang="en-US" b="1" dirty="0">
                <a:latin typeface="Times New Roman" panose="02020603050405020304" pitchFamily="18" charset="0"/>
                <a:ea typeface="Bell MT"/>
                <a:cs typeface="Times New Roman" panose="02020603050405020304" pitchFamily="18" charset="0"/>
                <a:sym typeface="Bell MT"/>
              </a:rPr>
              <a:t>Under the Guidance: </a:t>
            </a:r>
            <a:r>
              <a:rPr lang="en-IN" b="1" i="0" dirty="0" err="1">
                <a:solidFill>
                  <a:srgbClr val="000000"/>
                </a:solidFill>
                <a:effectLst/>
                <a:latin typeface="din-2014"/>
              </a:rPr>
              <a:t>Mrs.S.Govardhini</a:t>
            </a:r>
            <a:r>
              <a:rPr lang="en-IN" b="1" i="0" dirty="0">
                <a:solidFill>
                  <a:srgbClr val="000000"/>
                </a:solidFill>
                <a:effectLst/>
                <a:latin typeface="din-2014"/>
              </a:rPr>
              <a:t> (Assistant Professor)</a:t>
            </a:r>
            <a:br>
              <a:rPr lang="en-IN" dirty="0"/>
            </a:br>
            <a:r>
              <a:rPr lang="en-IN" b="1" i="0" dirty="0">
                <a:solidFill>
                  <a:srgbClr val="000000"/>
                </a:solidFill>
                <a:effectLst/>
                <a:latin typeface="din-2014"/>
              </a:rPr>
              <a:t>MCA, M. Phil., TN – SET, UGC-NET, B.Ed.</a:t>
            </a:r>
            <a:endParaRPr dirty="0">
              <a:latin typeface="Times New Roman" panose="02020603050405020304" pitchFamily="18" charset="0"/>
              <a:ea typeface="Bell MT"/>
              <a:cs typeface="Times New Roman" panose="02020603050405020304" pitchFamily="18" charset="0"/>
              <a:sym typeface="Bell MT"/>
            </a:endParaRPr>
          </a:p>
        </p:txBody>
      </p:sp>
      <p:pic>
        <p:nvPicPr>
          <p:cNvPr id="331" name="Google Shape;331;p52" descr="Image result for drngp"/>
          <p:cNvPicPr preferRelativeResize="0"/>
          <p:nvPr/>
        </p:nvPicPr>
        <p:blipFill rotWithShape="1">
          <a:blip r:embed="rId4">
            <a:alphaModFix/>
          </a:blip>
          <a:srcRect/>
          <a:stretch/>
        </p:blipFill>
        <p:spPr>
          <a:xfrm>
            <a:off x="1524000" y="5334000"/>
            <a:ext cx="9144000" cy="1524000"/>
          </a:xfrm>
          <a:prstGeom prst="rect">
            <a:avLst/>
          </a:prstGeom>
          <a:noFill/>
          <a:ln>
            <a:noFill/>
          </a:ln>
        </p:spPr>
      </p:pic>
      <p:sp>
        <p:nvSpPr>
          <p:cNvPr id="332" name="Google Shape;332;p52"/>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0" y="363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IN" sz="3200" b="1" dirty="0">
                <a:solidFill>
                  <a:schemeClr val="lt1"/>
                </a:solidFill>
                <a:latin typeface="Arial Black"/>
                <a:ea typeface="Arial Black"/>
                <a:cs typeface="Arial Black"/>
                <a:sym typeface="Arial Black"/>
              </a:rPr>
              <a:t>TITLE</a:t>
            </a:r>
            <a:endParaRPr sz="3200" b="1" dirty="0">
              <a:solidFill>
                <a:schemeClr val="lt1"/>
              </a:solidFill>
              <a:latin typeface="Arial Black"/>
              <a:ea typeface="Arial Black"/>
              <a:cs typeface="Arial Black"/>
              <a:sym typeface="Arial Black"/>
            </a:endParaRPr>
          </a:p>
        </p:txBody>
      </p:sp>
      <p:sp>
        <p:nvSpPr>
          <p:cNvPr id="338" name="Google Shape;338;p53"/>
          <p:cNvSpPr/>
          <p:nvPr/>
        </p:nvSpPr>
        <p:spPr>
          <a:xfrm>
            <a:off x="1638300" y="1300052"/>
            <a:ext cx="9837420" cy="5262979"/>
          </a:xfrm>
          <a:prstGeom prst="rect">
            <a:avLst/>
          </a:prstGeom>
          <a:noFill/>
          <a:ln>
            <a:noFill/>
          </a:ln>
        </p:spPr>
        <p:txBody>
          <a:bodyPr spcFirstLastPara="1" wrap="square" lIns="91425" tIns="45700" rIns="91425" bIns="45700" anchor="ctr" anchorCtr="0">
            <a:noAutofit/>
          </a:bodyPr>
          <a:lstStyle/>
          <a:p>
            <a:pPr marL="457200" indent="-304800" algn="just">
              <a:lnSpc>
                <a:spcPct val="200000"/>
              </a:lnSpc>
              <a:buClr>
                <a:schemeClr val="dk1"/>
              </a:buClr>
              <a:buSzPts val="2400"/>
            </a:pPr>
            <a:endParaRPr sz="2400" b="1" dirty="0">
              <a:solidFill>
                <a:srgbClr val="0000FF"/>
              </a:solidFill>
              <a:latin typeface="Arial"/>
              <a:ea typeface="Arial"/>
              <a:cs typeface="Arial"/>
              <a:sym typeface="Arial"/>
            </a:endParaRPr>
          </a:p>
        </p:txBody>
      </p:sp>
      <p:pic>
        <p:nvPicPr>
          <p:cNvPr id="339" name="Google Shape;339;p53" descr="Image result for DR NGP LOGO PNG"/>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p:cNvGrpSpPr/>
          <p:nvPr/>
        </p:nvGrpSpPr>
        <p:grpSpPr>
          <a:xfrm>
            <a:off x="2182762" y="6344132"/>
            <a:ext cx="3124200" cy="400110"/>
            <a:chOff x="668594" y="6226145"/>
            <a:chExt cx="3124200" cy="400110"/>
          </a:xfrm>
        </p:grpSpPr>
        <p:sp>
          <p:nvSpPr>
            <p:cNvPr id="341" name="Google Shape;341;p53"/>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a:t>
            </a:fld>
            <a:endParaRPr/>
          </a:p>
        </p:txBody>
      </p:sp>
      <p:sp>
        <p:nvSpPr>
          <p:cNvPr id="3" name="TextBox 2">
            <a:extLst>
              <a:ext uri="{FF2B5EF4-FFF2-40B4-BE49-F238E27FC236}">
                <a16:creationId xmlns:a16="http://schemas.microsoft.com/office/drawing/2014/main" id="{69A78963-6B89-48C7-EC76-F5B9644818D3}"/>
              </a:ext>
            </a:extLst>
          </p:cNvPr>
          <p:cNvSpPr txBox="1"/>
          <p:nvPr/>
        </p:nvSpPr>
        <p:spPr>
          <a:xfrm>
            <a:off x="1638300" y="1690098"/>
            <a:ext cx="9608820" cy="2462213"/>
          </a:xfrm>
          <a:prstGeom prst="rect">
            <a:avLst/>
          </a:prstGeom>
          <a:noFill/>
        </p:spPr>
        <p:txBody>
          <a:bodyPr wrap="square">
            <a:spAutoFit/>
          </a:bodyPr>
          <a:lstStyle/>
          <a:p>
            <a:pPr algn="ctr">
              <a:lnSpc>
                <a:spcPct val="150000"/>
              </a:lnSpc>
            </a:pPr>
            <a:r>
              <a:rPr lang="en-US" sz="2800" b="1" dirty="0">
                <a:latin typeface="Times New Roman" panose="02020603050405020304" pitchFamily="18" charset="0"/>
                <a:ea typeface="Times New Roman" panose="02020603050405020304" pitchFamily="18" charset="0"/>
              </a:rPr>
              <a:t>ELECTRICITY THEFT DETECTION IN SMART GRIDS BASED ON  DEEP NEURAL NETWORK</a:t>
            </a:r>
            <a:endParaRPr lang="en-US" sz="2800" b="1" dirty="0">
              <a:solidFill>
                <a:srgbClr val="2A43FE"/>
              </a:solidFill>
              <a:latin typeface="Bell MT"/>
              <a:ea typeface="Bell MT"/>
              <a:cs typeface="Bell MT"/>
              <a:sym typeface="Bell MT"/>
            </a:endParaRPr>
          </a:p>
          <a:p>
            <a:pPr algn="ctr">
              <a:lnSpc>
                <a:spcPct val="150000"/>
              </a:lnSpc>
            </a:pPr>
            <a:endParaRPr lang="en-US" sz="2800" b="1" dirty="0">
              <a:latin typeface="Times New Roman" panose="02020603050405020304" pitchFamily="18" charset="0"/>
              <a:ea typeface="Bell MT"/>
              <a:cs typeface="Times New Roman" panose="02020603050405020304" pitchFamily="18" charset="0"/>
              <a:sym typeface="Bell MT"/>
            </a:endParaRPr>
          </a:p>
          <a:p>
            <a:pPr algn="ct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5ABD567-9CD8-97CB-CAE2-2BE1A095EFD7}"/>
              </a:ext>
            </a:extLst>
          </p:cNvPr>
          <p:cNvSpPr txBox="1"/>
          <p:nvPr/>
        </p:nvSpPr>
        <p:spPr>
          <a:xfrm>
            <a:off x="4685072" y="4310758"/>
            <a:ext cx="6096000" cy="369332"/>
          </a:xfrm>
          <a:prstGeom prst="rect">
            <a:avLst/>
          </a:prstGeom>
          <a:noFill/>
        </p:spPr>
        <p:txBody>
          <a:bodyPr wrap="square">
            <a:spAutoFit/>
          </a:bodyPr>
          <a:lstStyle/>
          <a:p>
            <a:pPr algn="r"/>
            <a:r>
              <a:rPr lang="en-US" b="1" dirty="0">
                <a:latin typeface="Times New Roman" panose="02020603050405020304" pitchFamily="18" charset="0"/>
                <a:cs typeface="Times New Roman" panose="02020603050405020304" pitchFamily="18" charset="0"/>
              </a:rPr>
              <a:t>NANTHITHA R</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30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0" y="363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OBJECTIVES</a:t>
            </a:r>
            <a:endParaRPr sz="3200" b="1" dirty="0">
              <a:solidFill>
                <a:schemeClr val="lt1"/>
              </a:solidFill>
              <a:latin typeface="Arial Black"/>
              <a:ea typeface="Arial Black"/>
              <a:cs typeface="Arial Black"/>
              <a:sym typeface="Arial Black"/>
            </a:endParaRPr>
          </a:p>
        </p:txBody>
      </p:sp>
      <p:sp>
        <p:nvSpPr>
          <p:cNvPr id="338" name="Google Shape;338;p53"/>
          <p:cNvSpPr/>
          <p:nvPr/>
        </p:nvSpPr>
        <p:spPr>
          <a:xfrm>
            <a:off x="983226" y="1300052"/>
            <a:ext cx="10668000" cy="4009367"/>
          </a:xfrm>
          <a:prstGeom prst="rect">
            <a:avLst/>
          </a:prstGeom>
          <a:noFill/>
          <a:ln>
            <a:noFill/>
          </a:ln>
        </p:spPr>
        <p:txBody>
          <a:bodyPr spcFirstLastPara="1" wrap="square" lIns="91425" tIns="45700" rIns="91425" bIns="45700" anchor="ctr" anchorCtr="0">
            <a:noAutofit/>
          </a:bodyPr>
          <a:lstStyle/>
          <a:p>
            <a:pPr marL="457200" indent="-457200" algn="just">
              <a:lnSpc>
                <a:spcPct val="200000"/>
              </a:lnSpc>
            </a:pPr>
            <a:endParaRPr sz="1600" dirty="0">
              <a:solidFill>
                <a:srgbClr val="FF0000"/>
              </a:solidFill>
              <a:latin typeface="Arial"/>
              <a:ea typeface="Arial"/>
              <a:cs typeface="Arial"/>
              <a:sym typeface="Arial"/>
            </a:endParaRPr>
          </a:p>
          <a:p>
            <a:pPr lvl="1" algn="just">
              <a:lnSpc>
                <a:spcPct val="200000"/>
              </a:lnSpc>
              <a:buClr>
                <a:srgbClr val="0000FF"/>
              </a:buClr>
              <a:buSzPts val="2400"/>
            </a:pPr>
            <a:r>
              <a:rPr lang="en-US" sz="1600" b="1" dirty="0">
                <a:solidFill>
                  <a:srgbClr val="0000FF"/>
                </a:solidFill>
              </a:rPr>
              <a:t>                        </a:t>
            </a:r>
          </a:p>
          <a:p>
            <a:pPr lvl="1" algn="just">
              <a:lnSpc>
                <a:spcPct val="200000"/>
              </a:lnSpc>
              <a:buClr>
                <a:srgbClr val="0000FF"/>
              </a:buClr>
              <a:buSzPts val="2400"/>
            </a:pPr>
            <a:r>
              <a:rPr lang="en-US" sz="1600" b="1" dirty="0">
                <a:solidFill>
                  <a:srgbClr val="0000FF"/>
                </a:solidFill>
              </a:rPr>
              <a:t>  </a:t>
            </a:r>
            <a:endParaRPr lang="en-IN" sz="1600" dirty="0">
              <a:effectLst/>
              <a:latin typeface="Times New Roman" panose="02020603050405020304" pitchFamily="18" charset="0"/>
              <a:ea typeface="Times New Roman" panose="02020603050405020304" pitchFamily="18" charset="0"/>
            </a:endParaRPr>
          </a:p>
          <a:p>
            <a:pPr lvl="1" algn="just">
              <a:lnSpc>
                <a:spcPct val="200000"/>
              </a:lnSpc>
              <a:buClr>
                <a:srgbClr val="0000FF"/>
              </a:buClr>
              <a:buSzPts val="2400"/>
            </a:pPr>
            <a:endParaRPr lang="en-IN" sz="1600" dirty="0">
              <a:latin typeface="Arial Black" panose="020B0A04020102020204" pitchFamily="34" charset="0"/>
              <a:ea typeface="Times New Roman" panose="02020603050405020304" pitchFamily="18" charset="0"/>
            </a:endParaRPr>
          </a:p>
          <a:p>
            <a:pPr lvl="1" algn="just">
              <a:lnSpc>
                <a:spcPct val="200000"/>
              </a:lnSpc>
              <a:buClr>
                <a:srgbClr val="0000FF"/>
              </a:buClr>
              <a:buSzPts val="2400"/>
            </a:pPr>
            <a:r>
              <a:rPr lang="en-US" sz="1600" b="1" dirty="0">
                <a:solidFill>
                  <a:srgbClr val="0000FF"/>
                </a:solidFill>
              </a:rPr>
              <a:t> </a:t>
            </a:r>
          </a:p>
          <a:p>
            <a:pPr lvl="1" algn="just">
              <a:lnSpc>
                <a:spcPct val="200000"/>
              </a:lnSpc>
              <a:buClr>
                <a:srgbClr val="0000FF"/>
              </a:buClr>
              <a:buSzPts val="2400"/>
            </a:pPr>
            <a:r>
              <a:rPr lang="en-US" sz="1600" b="1" dirty="0">
                <a:solidFill>
                  <a:srgbClr val="0000FF"/>
                </a:solidFill>
              </a:rPr>
              <a:t> </a:t>
            </a:r>
            <a:endParaRPr lang="en-US" sz="1600" b="1" dirty="0">
              <a:solidFill>
                <a:srgbClr val="0070C0"/>
              </a:solidFill>
            </a:endParaRPr>
          </a:p>
          <a:p>
            <a:pPr lvl="1" algn="just">
              <a:lnSpc>
                <a:spcPct val="200000"/>
              </a:lnSpc>
              <a:buClr>
                <a:srgbClr val="0000FF"/>
              </a:buClr>
              <a:buSzPts val="2400"/>
            </a:pPr>
            <a:endParaRPr sz="1600" dirty="0"/>
          </a:p>
          <a:p>
            <a:pPr marL="914400" lvl="1" indent="-457200" algn="just">
              <a:lnSpc>
                <a:spcPct val="200000"/>
              </a:lnSpc>
              <a:buClr>
                <a:srgbClr val="0000FF"/>
              </a:buClr>
              <a:buSzPts val="2400"/>
              <a:buFont typeface="Arial"/>
              <a:buChar char="•"/>
            </a:pPr>
            <a:endParaRPr sz="1600" dirty="0"/>
          </a:p>
          <a:p>
            <a:pPr marL="457200" indent="-304800" algn="just">
              <a:lnSpc>
                <a:spcPct val="200000"/>
              </a:lnSpc>
              <a:buClr>
                <a:schemeClr val="dk1"/>
              </a:buClr>
              <a:buSzPts val="2400"/>
            </a:pPr>
            <a:endParaRPr sz="1600" b="1" dirty="0">
              <a:solidFill>
                <a:srgbClr val="0000FF"/>
              </a:solidFill>
              <a:latin typeface="Arial"/>
              <a:ea typeface="Arial"/>
              <a:cs typeface="Arial"/>
              <a:sym typeface="Arial"/>
            </a:endParaRPr>
          </a:p>
        </p:txBody>
      </p:sp>
      <p:pic>
        <p:nvPicPr>
          <p:cNvPr id="339" name="Google Shape;339;p53" descr="Image result for DR NGP LOGO PNG"/>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p:cNvGrpSpPr/>
          <p:nvPr/>
        </p:nvGrpSpPr>
        <p:grpSpPr>
          <a:xfrm>
            <a:off x="2182762" y="6344132"/>
            <a:ext cx="3124200" cy="400110"/>
            <a:chOff x="668594" y="6226145"/>
            <a:chExt cx="3124200" cy="400110"/>
          </a:xfrm>
        </p:grpSpPr>
        <p:sp>
          <p:nvSpPr>
            <p:cNvPr id="341" name="Google Shape;341;p53"/>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3</a:t>
            </a:fld>
            <a:endParaRPr/>
          </a:p>
        </p:txBody>
      </p:sp>
      <p:sp>
        <p:nvSpPr>
          <p:cNvPr id="4" name="TextBox 3">
            <a:extLst>
              <a:ext uri="{FF2B5EF4-FFF2-40B4-BE49-F238E27FC236}">
                <a16:creationId xmlns:a16="http://schemas.microsoft.com/office/drawing/2014/main" id="{E4ECC4F7-C2BB-D30F-CCF3-A562DCC74503}"/>
              </a:ext>
            </a:extLst>
          </p:cNvPr>
          <p:cNvSpPr txBox="1"/>
          <p:nvPr/>
        </p:nvSpPr>
        <p:spPr>
          <a:xfrm>
            <a:off x="1450257" y="1964964"/>
            <a:ext cx="9222658" cy="2554545"/>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neural network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model to detect electricity theft in smart grids with high accuracy.</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data quality by addressing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values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imbalance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interpolation and synthetic data generation.</a:t>
            </a:r>
          </a:p>
          <a:p>
            <a:pPr marL="0" marR="0" lvl="0" indent="0"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and validate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relevant features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PCA and minimum redundancy maximum relevance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mRMR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detection performance.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80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35261029-9B1E-BA54-2A48-394AB900FE1C}"/>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EC55E0C1-49B4-AE91-879C-59918B41E78E}"/>
              </a:ext>
            </a:extLst>
          </p:cNvPr>
          <p:cNvSpPr txBox="1">
            <a:spLocks noGrp="1"/>
          </p:cNvSpPr>
          <p:nvPr>
            <p:ph type="title"/>
          </p:nvPr>
        </p:nvSpPr>
        <p:spPr>
          <a:xfrm>
            <a:off x="0" y="363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EXISTING SYSTEM </a:t>
            </a:r>
            <a:endParaRPr sz="3200" b="1" dirty="0">
              <a:solidFill>
                <a:schemeClr val="lt1"/>
              </a:solidFill>
              <a:latin typeface="Arial Black"/>
              <a:ea typeface="Arial Black"/>
              <a:cs typeface="Arial Black"/>
              <a:sym typeface="Arial Black"/>
            </a:endParaRPr>
          </a:p>
        </p:txBody>
      </p:sp>
      <p:sp>
        <p:nvSpPr>
          <p:cNvPr id="338" name="Google Shape;338;p53">
            <a:extLst>
              <a:ext uri="{FF2B5EF4-FFF2-40B4-BE49-F238E27FC236}">
                <a16:creationId xmlns:a16="http://schemas.microsoft.com/office/drawing/2014/main" id="{128F636E-EF80-E67A-4F77-2304D1075A73}"/>
              </a:ext>
            </a:extLst>
          </p:cNvPr>
          <p:cNvSpPr/>
          <p:nvPr/>
        </p:nvSpPr>
        <p:spPr>
          <a:xfrm>
            <a:off x="1510484" y="1300053"/>
            <a:ext cx="9144000" cy="4471482"/>
          </a:xfrm>
          <a:prstGeom prst="rect">
            <a:avLst/>
          </a:prstGeom>
          <a:noFill/>
          <a:ln>
            <a:noFill/>
          </a:ln>
        </p:spPr>
        <p:txBody>
          <a:bodyPr spcFirstLastPara="1" wrap="square" lIns="91425" tIns="45700" rIns="91425" bIns="45700" anchor="ctr" anchorCtr="0">
            <a:no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 related to electricity consumption, power flow, and other relevant parameters is collected in the current system. Mention the sources of data, such as smart meters, sensors, and monitoring devices.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collected data is processed in the current system. This may involve data aggregation, filtering, and analysis to identify patterns and anomalies.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variables used in the current system for detecting electricity theft. This could include parameters like energy consumption patterns, voltage levels, and current flows.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Summarizing the performance of the current system in terms of its accuracy, reliability, and efficiency in detecting electricity theft.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304800" algn="just">
              <a:lnSpc>
                <a:spcPct val="150000"/>
              </a:lnSpc>
              <a:buClr>
                <a:schemeClr val="dk1"/>
              </a:buClr>
              <a:buSzPts val="2400"/>
            </a:pPr>
            <a:endParaRPr lang="en-IN" sz="2000" dirty="0">
              <a:latin typeface="Times New Roman" panose="02020603050405020304" pitchFamily="18" charset="0"/>
              <a:ea typeface="Arial"/>
              <a:cs typeface="Times New Roman" panose="02020603050405020304" pitchFamily="18" charset="0"/>
              <a:sym typeface="Arial"/>
            </a:endParaRPr>
          </a:p>
        </p:txBody>
      </p:sp>
      <p:pic>
        <p:nvPicPr>
          <p:cNvPr id="339" name="Google Shape;339;p53" descr="Image result for DR NGP LOGO PNG">
            <a:extLst>
              <a:ext uri="{FF2B5EF4-FFF2-40B4-BE49-F238E27FC236}">
                <a16:creationId xmlns:a16="http://schemas.microsoft.com/office/drawing/2014/main" id="{990FD571-A281-4B96-1C36-D80921B6E3C9}"/>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6476021D-5B77-B98E-B85B-B45D82FFFD79}"/>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726A95F1-CFB8-5E0F-925A-B46016DC9EA7}"/>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2790F03E-6EA0-1146-6FBD-F831362E2FEE}"/>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07E94D64-AEFA-A8EF-CD30-4626CE9E1700}"/>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4</a:t>
            </a:fld>
            <a:endParaRPr/>
          </a:p>
        </p:txBody>
      </p:sp>
    </p:spTree>
    <p:extLst>
      <p:ext uri="{BB962C8B-B14F-4D97-AF65-F5344CB8AC3E}">
        <p14:creationId xmlns:p14="http://schemas.microsoft.com/office/powerpoint/2010/main" val="2009683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5550264F-2C63-B665-CB26-6C6FEFAFAFCF}"/>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47727DC3-A6E9-9DFD-4223-350EFAC33831}"/>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PROPOSED SYSYTEM</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8305CB5A-6405-7742-EC09-AFFA9D33AEC5}"/>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32CDEB7D-E7E5-78A7-9EE4-CE202598FD8A}"/>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18CD3268-DE4D-7086-9250-4F8194F3C4F5}"/>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C579E511-24BB-98CF-0134-CEEB6A461A75}"/>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934C9D76-23FB-538C-96FD-1295BF3A9388}"/>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5</a:t>
            </a:fld>
            <a:endParaRPr/>
          </a:p>
        </p:txBody>
      </p:sp>
      <p:sp>
        <p:nvSpPr>
          <p:cNvPr id="4" name="Content Placeholder 3">
            <a:extLst>
              <a:ext uri="{FF2B5EF4-FFF2-40B4-BE49-F238E27FC236}">
                <a16:creationId xmlns:a16="http://schemas.microsoft.com/office/drawing/2014/main" id="{D4DAFFCD-09C9-6E8D-30A5-5E40E0DAD168}"/>
              </a:ext>
            </a:extLst>
          </p:cNvPr>
          <p:cNvSpPr>
            <a:spLocks noGrp="1"/>
          </p:cNvSpPr>
          <p:nvPr>
            <p:ph idx="1"/>
          </p:nvPr>
        </p:nvSpPr>
        <p:spPr>
          <a:xfrm>
            <a:off x="978063" y="1408189"/>
            <a:ext cx="10515600" cy="4351338"/>
          </a:xfrm>
        </p:spPr>
        <p:txBody>
          <a:bodyPr>
            <a:normAutofit fontScale="92500" lnSpcReduction="10000"/>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As one of the major factors of the nontechnical losses in distribution networks, the electricity theft causes significant harm to power grids, which influences power supply quality and reduces operating profits.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order to help utility companies solve the problems of inefficient electricity inspection and irregular power consumption, a novel hybrid convolutional neural network-random forest (CNN-RF) model for automatic electricity theft detection is presented in this project.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this model, a convolutional neural network (CNN) firstly is designed to learn the features between different hours of the day and different days from massive and varying smart meter data by the operations of convolution and down sampling.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addition, a dropout layer is added to retard the risk of overfitting, and the backpropagation algorithm is applied to update network parameters in the training phase. And then, the random forest (RF) is trained based on the obtained features to detect whether the consumer steals electricity. To build the RF in the hybrid model, the grid search algorithm is adopted to determine optimal parameters.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Finally, experiments are conducted based on real energy consumption data, and the results show that the proposed detection model outperforms other methods in terms of accuracy and efficiency.</a:t>
            </a:r>
            <a:endParaRPr lang="en-US" sz="2000" dirty="0">
              <a:latin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8323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358A38A0-F27E-A4F5-9E8E-5198EA1700D2}"/>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EB7F62C3-9E46-8FA1-CFB1-80FA067530A9}"/>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ADVANTAGES OF PROPOSED SYSTEM </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D89B7BBB-80A9-C600-B39E-2126610996D3}"/>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A8731E92-BCF0-751A-39C2-9F8ECD532F23}"/>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2B1D28AB-2D5D-B7A0-CBBB-5F89B7F612DA}"/>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D47F5550-6BEE-D387-E7C8-7647DFF5F338}"/>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03842E05-3566-7494-12DD-DE99FEDB89FB}"/>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6</a:t>
            </a:fld>
            <a:endParaRPr/>
          </a:p>
        </p:txBody>
      </p:sp>
      <p:sp>
        <p:nvSpPr>
          <p:cNvPr id="4" name="Content Placeholder 3">
            <a:extLst>
              <a:ext uri="{FF2B5EF4-FFF2-40B4-BE49-F238E27FC236}">
                <a16:creationId xmlns:a16="http://schemas.microsoft.com/office/drawing/2014/main" id="{78151C95-2DB3-817B-B7BB-3CEAE96ACDE5}"/>
              </a:ext>
            </a:extLst>
          </p:cNvPr>
          <p:cNvSpPr>
            <a:spLocks noGrp="1"/>
          </p:cNvSpPr>
          <p:nvPr>
            <p:ph idx="1"/>
          </p:nvPr>
        </p:nvSpPr>
        <p:spPr>
          <a:xfrm>
            <a:off x="2526029" y="1920239"/>
            <a:ext cx="8967633" cy="3839287"/>
          </a:xfrm>
        </p:spPr>
        <p:txBody>
          <a:bodyPr>
            <a:norm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High Accuracy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High Efficiency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Less Time consumption</a:t>
            </a: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2502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047D8CCA-5EBB-208A-CCAD-8C734A625648}"/>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F0046FC9-B242-A81F-992A-18D1ED364CC4}"/>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TOOLS AND TECHNOLOGY</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6ABB2F9D-7EB1-E37A-0B20-94B9745ABB38}"/>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548389CC-0B64-FE5C-F2A8-A45283C54202}"/>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BCBD54CC-69D6-EBA3-2429-F8E88F42A751}"/>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D5D731DB-38F8-2160-89CA-D68A4B0D99F4}"/>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B89AB6F3-FDE7-045A-288D-F9D58B64CFC1}"/>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7</a:t>
            </a:fld>
            <a:endParaRPr/>
          </a:p>
        </p:txBody>
      </p:sp>
      <p:sp>
        <p:nvSpPr>
          <p:cNvPr id="4" name="Content Placeholder 3">
            <a:extLst>
              <a:ext uri="{FF2B5EF4-FFF2-40B4-BE49-F238E27FC236}">
                <a16:creationId xmlns:a16="http://schemas.microsoft.com/office/drawing/2014/main" id="{FB46A077-B22A-AEF6-FF95-4F9B10B5183F}"/>
              </a:ext>
            </a:extLst>
          </p:cNvPr>
          <p:cNvSpPr>
            <a:spLocks noGrp="1"/>
          </p:cNvSpPr>
          <p:nvPr>
            <p:ph idx="1"/>
          </p:nvPr>
        </p:nvSpPr>
        <p:spPr>
          <a:xfrm>
            <a:off x="2281083" y="1133298"/>
            <a:ext cx="10515600" cy="4351338"/>
          </a:xfrm>
        </p:spPr>
        <p:txBody>
          <a:bodyPr>
            <a:normAutofit/>
          </a:bodyPr>
          <a:lstStyle/>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Operating system : Windows 7 Ultimate </a:t>
            </a: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Coding Language : Python</a:t>
            </a: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Front-End : HTML</a:t>
            </a: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Back-End : Django-ORM </a:t>
            </a: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Designing : Html, </a:t>
            </a:r>
            <a:r>
              <a:rPr lang="en-US" sz="2000" dirty="0" err="1">
                <a:latin typeface="Times New Roman" panose="02020603050405020304" pitchFamily="18" charset="0"/>
                <a:cs typeface="Times New Roman" panose="02020603050405020304" pitchFamily="18" charset="0"/>
              </a:rPr>
              <a:t>css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javascript</a:t>
            </a:r>
            <a:endParaRPr lang="en-US" sz="2000" dirty="0">
              <a:latin typeface="Times New Roman" panose="02020603050405020304" pitchFamily="18"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Base : MySQL (WAMP Server)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019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855B3653-5CC4-BA39-C6E7-35562B38E927}"/>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B69799CD-B4F0-7B3B-869E-1D61FDE073EE}"/>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NOVELTY</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F39B0EA0-9471-E03B-21D1-9FC5412DA2B6}"/>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049A0A71-CB73-D999-AC03-CF8E1AAF9877}"/>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2EB01B94-0041-0FBD-F0F7-568CBFEF782C}"/>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6F37A07E-F2C4-A2B1-9C66-27E16B906E6F}"/>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F1440C20-E358-0BFA-77D3-1CFBC6AB45D8}"/>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8</a:t>
            </a:fld>
            <a:endParaRPr/>
          </a:p>
        </p:txBody>
      </p:sp>
      <p:sp>
        <p:nvSpPr>
          <p:cNvPr id="4" name="Content Placeholder 3">
            <a:extLst>
              <a:ext uri="{FF2B5EF4-FFF2-40B4-BE49-F238E27FC236}">
                <a16:creationId xmlns:a16="http://schemas.microsoft.com/office/drawing/2014/main" id="{E3BB59A4-2127-0583-D997-39F1D705697E}"/>
              </a:ext>
            </a:extLst>
          </p:cNvPr>
          <p:cNvSpPr>
            <a:spLocks noGrp="1"/>
          </p:cNvSpPr>
          <p:nvPr>
            <p:ph idx="1"/>
          </p:nvPr>
        </p:nvSpPr>
        <p:spPr>
          <a:xfrm>
            <a:off x="838200" y="1459707"/>
            <a:ext cx="105156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The novelty of your project lies in the application of deep neural networks (DNNs) for electricity theft detection in a smart grid. This approach offers several unique advantages over traditional methods: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Advanced Pattern Recognition:</a:t>
            </a:r>
            <a:r>
              <a:rPr lang="en-US" sz="2000" dirty="0">
                <a:latin typeface="Times New Roman" panose="02020603050405020304" pitchFamily="18" charset="0"/>
                <a:cs typeface="Times New Roman" panose="02020603050405020304" pitchFamily="18" charset="0"/>
              </a:rPr>
              <a:t> DNNs can effectively learn complex patterns and relationships from large-scale data, enabling them to detect subtle anomalies indicative of electricity theft. This ability surpasses the capabilities of traditional statistical or rule-based methods.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Efficiency:</a:t>
            </a:r>
            <a:r>
              <a:rPr lang="en-US" sz="2000" dirty="0">
                <a:latin typeface="Times New Roman" panose="02020603050405020304" pitchFamily="18" charset="0"/>
                <a:cs typeface="Times New Roman" panose="02020603050405020304" pitchFamily="18" charset="0"/>
              </a:rPr>
              <a:t> Once trained, DNN models can process data rapidly, allowing for real-time or near-real-time detection of theft incidents. This can lead to quicker response times and reduced losses for utility companies.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Improved Accuracy:</a:t>
            </a:r>
            <a:r>
              <a:rPr lang="en-US" sz="2000" dirty="0">
                <a:latin typeface="Times New Roman" panose="02020603050405020304" pitchFamily="18" charset="0"/>
                <a:cs typeface="Times New Roman" panose="02020603050405020304" pitchFamily="18" charset="0"/>
              </a:rPr>
              <a:t> The inherent learning capabilities of DNNs can lead to more accurate detection of theft incidents while minimizing false alarms, improving the overall efficiency of theft detection systems.</a:t>
            </a:r>
          </a:p>
          <a:p>
            <a:pPr marL="0" indent="0">
              <a:lnSpc>
                <a:spcPct val="107000"/>
              </a:lnSpc>
              <a:spcAft>
                <a:spcPts val="800"/>
              </a:spcAft>
              <a:buNone/>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94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4AD2B1F8-D73A-F152-E8D0-FD091CDFEE98}"/>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E3866E5A-C792-16CB-7B7E-CB75BBC52A3C}"/>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ARCHITECTURE</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781BAD66-C7C0-AAB5-D08A-25ADA01DB666}"/>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93EEC194-C63B-4032-5B48-0B8940637125}"/>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3754112C-83CA-B839-4C84-55EB1996B120}"/>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6ECF8E89-1D53-38B1-932A-9054D222FAA3}"/>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3D46CA78-9F65-94AD-D57D-A36D63BF71BC}"/>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9</a:t>
            </a:fld>
            <a:endParaRPr/>
          </a:p>
        </p:txBody>
      </p:sp>
      <p:pic>
        <p:nvPicPr>
          <p:cNvPr id="2" name="Picture 2" descr="C:\Users\Administrator\Downloads\architecture.png">
            <a:extLst>
              <a:ext uri="{FF2B5EF4-FFF2-40B4-BE49-F238E27FC236}">
                <a16:creationId xmlns:a16="http://schemas.microsoft.com/office/drawing/2014/main" id="{1FFDE537-FD95-39D6-D585-AB8DF6C75397}"/>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428750" y="1408189"/>
            <a:ext cx="9555480" cy="472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490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6">
          <a:extLst>
            <a:ext uri="{FF2B5EF4-FFF2-40B4-BE49-F238E27FC236}">
              <a16:creationId xmlns:a16="http://schemas.microsoft.com/office/drawing/2014/main" id="{4516DA19-D9C3-5491-0893-74AE2963747C}"/>
            </a:ext>
          </a:extLst>
        </p:cNvPr>
        <p:cNvGrpSpPr/>
        <p:nvPr/>
      </p:nvGrpSpPr>
      <p:grpSpPr>
        <a:xfrm>
          <a:off x="0" y="0"/>
          <a:ext cx="0" cy="0"/>
          <a:chOff x="0" y="0"/>
          <a:chExt cx="0" cy="0"/>
        </a:xfrm>
      </p:grpSpPr>
      <p:sp>
        <p:nvSpPr>
          <p:cNvPr id="337" name="Google Shape;337;p53">
            <a:extLst>
              <a:ext uri="{FF2B5EF4-FFF2-40B4-BE49-F238E27FC236}">
                <a16:creationId xmlns:a16="http://schemas.microsoft.com/office/drawing/2014/main" id="{455D6627-5C9D-6BA9-848A-D57C1D1C1185}"/>
              </a:ext>
            </a:extLst>
          </p:cNvPr>
          <p:cNvSpPr txBox="1">
            <a:spLocks noGrp="1"/>
          </p:cNvSpPr>
          <p:nvPr>
            <p:ph type="title"/>
          </p:nvPr>
        </p:nvSpPr>
        <p:spPr>
          <a:xfrm>
            <a:off x="1" y="0"/>
            <a:ext cx="12192000"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FUTURE SCOPE</a:t>
            </a:r>
            <a:endParaRPr sz="3200" b="1" dirty="0">
              <a:solidFill>
                <a:schemeClr val="lt1"/>
              </a:solidFill>
              <a:latin typeface="Arial Black"/>
              <a:ea typeface="Arial Black"/>
              <a:cs typeface="Arial Black"/>
              <a:sym typeface="Arial Black"/>
            </a:endParaRPr>
          </a:p>
        </p:txBody>
      </p:sp>
      <p:pic>
        <p:nvPicPr>
          <p:cNvPr id="339" name="Google Shape;339;p53" descr="Image result for DR NGP LOGO PNG">
            <a:extLst>
              <a:ext uri="{FF2B5EF4-FFF2-40B4-BE49-F238E27FC236}">
                <a16:creationId xmlns:a16="http://schemas.microsoft.com/office/drawing/2014/main" id="{601F2FEE-5269-FA3B-BD79-BFC55DE72173}"/>
              </a:ext>
            </a:extLst>
          </p:cNvPr>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a:extLst>
              <a:ext uri="{FF2B5EF4-FFF2-40B4-BE49-F238E27FC236}">
                <a16:creationId xmlns:a16="http://schemas.microsoft.com/office/drawing/2014/main" id="{616AC014-AA88-E5C2-B87E-A4575107DF45}"/>
              </a:ext>
            </a:extLst>
          </p:cNvPr>
          <p:cNvGrpSpPr/>
          <p:nvPr/>
        </p:nvGrpSpPr>
        <p:grpSpPr>
          <a:xfrm>
            <a:off x="2182762" y="6344132"/>
            <a:ext cx="3124200" cy="400110"/>
            <a:chOff x="668594" y="6226145"/>
            <a:chExt cx="3124200" cy="400110"/>
          </a:xfrm>
        </p:grpSpPr>
        <p:sp>
          <p:nvSpPr>
            <p:cNvPr id="341" name="Google Shape;341;p53">
              <a:extLst>
                <a:ext uri="{FF2B5EF4-FFF2-40B4-BE49-F238E27FC236}">
                  <a16:creationId xmlns:a16="http://schemas.microsoft.com/office/drawing/2014/main" id="{5F815DDB-44B7-74B1-9DD5-CF47E4CCB1AC}"/>
                </a:ext>
              </a:extLst>
            </p:cNvPr>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a:extLst>
                <a:ext uri="{FF2B5EF4-FFF2-40B4-BE49-F238E27FC236}">
                  <a16:creationId xmlns:a16="http://schemas.microsoft.com/office/drawing/2014/main" id="{8CB88C7E-CC36-8F3E-0634-398CB3626544}"/>
                </a:ext>
              </a:extLst>
            </p:cNvPr>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a:extLst>
              <a:ext uri="{FF2B5EF4-FFF2-40B4-BE49-F238E27FC236}">
                <a16:creationId xmlns:a16="http://schemas.microsoft.com/office/drawing/2014/main" id="{001AAA1F-C6EC-1A43-304B-E0E4D03AA1BF}"/>
              </a:ext>
            </a:extLst>
          </p:cNvPr>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10</a:t>
            </a:fld>
            <a:endParaRPr/>
          </a:p>
        </p:txBody>
      </p:sp>
      <p:sp>
        <p:nvSpPr>
          <p:cNvPr id="3" name="Content Placeholder 2">
            <a:extLst>
              <a:ext uri="{FF2B5EF4-FFF2-40B4-BE49-F238E27FC236}">
                <a16:creationId xmlns:a16="http://schemas.microsoft.com/office/drawing/2014/main" id="{78628987-B9EF-6CBC-03C1-E507CEF07548}"/>
              </a:ext>
            </a:extLst>
          </p:cNvPr>
          <p:cNvSpPr>
            <a:spLocks noGrp="1"/>
          </p:cNvSpPr>
          <p:nvPr>
            <p:ph idx="1"/>
          </p:nvPr>
        </p:nvSpPr>
        <p:spPr>
          <a:xfrm>
            <a:off x="582930" y="1447486"/>
            <a:ext cx="11178540" cy="4727655"/>
          </a:xfrm>
        </p:spPr>
        <p:txBody>
          <a:bodyPr>
            <a:normAutofit/>
          </a:bodyPr>
          <a:lstStyle/>
          <a:p>
            <a:pPr algn="just"/>
            <a:r>
              <a:rPr lang="en-US" sz="2200" dirty="0">
                <a:latin typeface="Times New Roman" panose="02020603050405020304" pitchFamily="18" charset="0"/>
                <a:cs typeface="Times New Roman" panose="02020603050405020304" pitchFamily="18" charset="0"/>
              </a:rPr>
              <a:t>In the future, a project on detecting electricity theft in smart grids using deep neural networks could grow in several ways. Firstly, the accuracy of the detection system could be improved by using more advanced algorithms and tweaking the settings to make it more precise. Secondly, the system could be made faster to detect theft as it happens, by optimizing how it processes data from smart meters and other sensors. Thirdly, it could be expanded to look for unusual patterns in electricity use that might suggest theft, even in cases where traditional methods might not spot it. Fourthly, the system could be made to work efficiently in very large smart grid networks with millions of users. </a:t>
            </a:r>
          </a:p>
          <a:p>
            <a:pPr algn="just"/>
            <a:r>
              <a:rPr lang="en-US" sz="2200" dirty="0">
                <a:latin typeface="Times New Roman" panose="02020603050405020304" pitchFamily="18" charset="0"/>
                <a:cs typeface="Times New Roman" panose="02020603050405020304" pitchFamily="18" charset="0"/>
              </a:rPr>
              <a:t>Additionally, it could be integrated more closely with other parts of the smart grid, like smart meters and control systems, to make monitoring and control easier. Data privacy and security would also be a big focus, making sure that sensitive information is kept safe. Finally, the system would need to follow all the rules and standards for detecting electricity theft and protecting data, which can vary depending on where it's being used.</a:t>
            </a:r>
          </a:p>
          <a:p>
            <a:endParaRPr lang="en-IN" dirty="0"/>
          </a:p>
        </p:txBody>
      </p:sp>
    </p:spTree>
    <p:extLst>
      <p:ext uri="{BB962C8B-B14F-4D97-AF65-F5344CB8AC3E}">
        <p14:creationId xmlns:p14="http://schemas.microsoft.com/office/powerpoint/2010/main" val="148964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1" y="3630"/>
            <a:ext cx="12192001" cy="914400"/>
          </a:xfrm>
          <a:prstGeom prst="rect">
            <a:avLst/>
          </a:prstGeom>
          <a:solidFill>
            <a:srgbClr val="0000FF"/>
          </a:solidFill>
          <a:ln>
            <a:noFill/>
          </a:ln>
        </p:spPr>
        <p:txBody>
          <a:bodyPr spcFirstLastPara="1" vert="horz" wrap="square" lIns="91425" tIns="45700" rIns="91425" bIns="45700" rtlCol="0" anchor="ctr" anchorCtr="0">
            <a:noAutofit/>
          </a:bodyPr>
          <a:lstStyle/>
          <a:p>
            <a:pPr algn="ctr">
              <a:spcBef>
                <a:spcPts val="0"/>
              </a:spcBef>
              <a:buClr>
                <a:schemeClr val="lt1"/>
              </a:buClr>
              <a:buSzPts val="3200"/>
            </a:pPr>
            <a:r>
              <a:rPr lang="en-US" sz="3200" b="1" dirty="0">
                <a:solidFill>
                  <a:schemeClr val="lt1"/>
                </a:solidFill>
                <a:latin typeface="Arial Black"/>
                <a:ea typeface="Arial Black"/>
                <a:cs typeface="Arial Black"/>
                <a:sym typeface="Arial Black"/>
              </a:rPr>
              <a:t>CONCLUSION</a:t>
            </a:r>
            <a:endParaRPr sz="3200" b="1" dirty="0">
              <a:solidFill>
                <a:schemeClr val="lt1"/>
              </a:solidFill>
              <a:latin typeface="Arial Black"/>
              <a:ea typeface="Arial Black"/>
              <a:cs typeface="Arial Black"/>
              <a:sym typeface="Arial Black"/>
            </a:endParaRPr>
          </a:p>
        </p:txBody>
      </p:sp>
      <p:sp>
        <p:nvSpPr>
          <p:cNvPr id="338" name="Google Shape;338;p53"/>
          <p:cNvSpPr/>
          <p:nvPr/>
        </p:nvSpPr>
        <p:spPr>
          <a:xfrm>
            <a:off x="1582994" y="1641986"/>
            <a:ext cx="8915400" cy="3357715"/>
          </a:xfrm>
          <a:prstGeom prst="rect">
            <a:avLst/>
          </a:prstGeom>
          <a:noFill/>
          <a:ln>
            <a:noFill/>
          </a:ln>
        </p:spPr>
        <p:txBody>
          <a:bodyPr spcFirstLastPara="1" wrap="square" lIns="91425" tIns="45700" rIns="91425" bIns="45700" anchor="ctr" anchorCtr="0">
            <a:noAutofit/>
          </a:bodyPr>
          <a:lstStyle/>
          <a:p>
            <a:pPr marL="800100" lvl="1" indent="-342900" algn="just">
              <a:lnSpc>
                <a:spcPct val="150000"/>
              </a:lnSpc>
              <a:buFont typeface="Wingdings" panose="05000000000000000000" pitchFamily="2" charset="2"/>
              <a:buChar char="ü"/>
            </a:pPr>
            <a:endParaRPr lang="en-US" sz="2000" dirty="0">
              <a:latin typeface="Times New Roman" panose="02020603050405020304" pitchFamily="18" charset="0"/>
              <a:ea typeface="Arial"/>
              <a:cs typeface="Times New Roman" panose="02020603050405020304" pitchFamily="18" charset="0"/>
              <a:sym typeface="Arial"/>
            </a:endParaRPr>
          </a:p>
        </p:txBody>
      </p:sp>
      <p:pic>
        <p:nvPicPr>
          <p:cNvPr id="339" name="Google Shape;339;p53" descr="Image result for DR NGP LOGO PNG"/>
          <p:cNvPicPr preferRelativeResize="0"/>
          <p:nvPr/>
        </p:nvPicPr>
        <p:blipFill rotWithShape="1">
          <a:blip r:embed="rId3">
            <a:alphaModFix/>
          </a:blip>
          <a:srcRect/>
          <a:stretch/>
        </p:blipFill>
        <p:spPr>
          <a:xfrm>
            <a:off x="1524000" y="6253317"/>
            <a:ext cx="609600" cy="604684"/>
          </a:xfrm>
          <a:prstGeom prst="rect">
            <a:avLst/>
          </a:prstGeom>
          <a:noFill/>
          <a:ln>
            <a:noFill/>
          </a:ln>
        </p:spPr>
      </p:pic>
      <p:grpSp>
        <p:nvGrpSpPr>
          <p:cNvPr id="340" name="Google Shape;340;p53"/>
          <p:cNvGrpSpPr/>
          <p:nvPr/>
        </p:nvGrpSpPr>
        <p:grpSpPr>
          <a:xfrm>
            <a:off x="2182762" y="6344132"/>
            <a:ext cx="3124200" cy="400110"/>
            <a:chOff x="668594" y="6226145"/>
            <a:chExt cx="3124200" cy="400110"/>
          </a:xfrm>
        </p:grpSpPr>
        <p:sp>
          <p:nvSpPr>
            <p:cNvPr id="341" name="Google Shape;341;p53"/>
            <p:cNvSpPr txBox="1"/>
            <p:nvPr/>
          </p:nvSpPr>
          <p:spPr>
            <a:xfrm>
              <a:off x="668594" y="6226145"/>
              <a:ext cx="3124200" cy="400110"/>
            </a:xfrm>
            <a:prstGeom prst="rect">
              <a:avLst/>
            </a:prstGeom>
            <a:solidFill>
              <a:schemeClr val="lt1"/>
            </a:solidFill>
            <a:ln>
              <a:noFill/>
            </a:ln>
          </p:spPr>
          <p:txBody>
            <a:bodyPr spcFirstLastPara="1" wrap="square" lIns="91425" tIns="45700" rIns="91425" bIns="45700" anchor="t" anchorCtr="0">
              <a:spAutoFit/>
            </a:bodyPr>
            <a:lstStyle/>
            <a:p>
              <a:pPr>
                <a:buClr>
                  <a:srgbClr val="0000FF"/>
                </a:buClr>
                <a:buSzPts val="1000"/>
              </a:pPr>
              <a:r>
                <a:rPr lang="en-US" sz="1000" b="1" dirty="0" err="1">
                  <a:solidFill>
                    <a:srgbClr val="0000FF"/>
                  </a:solidFill>
                  <a:latin typeface="Arial Black"/>
                  <a:ea typeface="Arial Black"/>
                  <a:cs typeface="Arial Black"/>
                  <a:sym typeface="Arial Black"/>
                </a:rPr>
                <a:t>Dr.NGPASC</a:t>
              </a:r>
              <a:endParaRPr dirty="0"/>
            </a:p>
            <a:p>
              <a:pPr>
                <a:buClr>
                  <a:srgbClr val="0000FF"/>
                </a:buClr>
                <a:buSzPts val="1000"/>
              </a:pPr>
              <a:r>
                <a:rPr lang="en-US" sz="1000" b="1" dirty="0" err="1">
                  <a:solidFill>
                    <a:srgbClr val="0000FF"/>
                  </a:solidFill>
                  <a:latin typeface="Arial Black"/>
                  <a:ea typeface="Arial Black"/>
                  <a:cs typeface="Arial Black"/>
                  <a:sym typeface="Arial Black"/>
                </a:rPr>
                <a:t>Coimbatore,Tamil</a:t>
              </a:r>
              <a:r>
                <a:rPr lang="en-US" sz="1000" b="1" dirty="0">
                  <a:solidFill>
                    <a:srgbClr val="0000FF"/>
                  </a:solidFill>
                  <a:latin typeface="Arial Black"/>
                  <a:ea typeface="Arial Black"/>
                  <a:cs typeface="Arial Black"/>
                  <a:sym typeface="Arial Black"/>
                </a:rPr>
                <a:t> Nadu, India</a:t>
              </a:r>
              <a:endParaRPr sz="1000" b="1" dirty="0">
                <a:solidFill>
                  <a:srgbClr val="0000FF"/>
                </a:solidFill>
                <a:latin typeface="Arial Black"/>
                <a:ea typeface="Arial Black"/>
                <a:cs typeface="Arial Black"/>
                <a:sym typeface="Arial Black"/>
              </a:endParaRPr>
            </a:p>
          </p:txBody>
        </p:sp>
        <p:cxnSp>
          <p:nvCxnSpPr>
            <p:cNvPr id="342" name="Google Shape;342;p53"/>
            <p:cNvCxnSpPr/>
            <p:nvPr/>
          </p:nvCxnSpPr>
          <p:spPr>
            <a:xfrm>
              <a:off x="766915" y="6445043"/>
              <a:ext cx="2403989" cy="0"/>
            </a:xfrm>
            <a:prstGeom prst="straightConnector1">
              <a:avLst/>
            </a:prstGeom>
            <a:noFill/>
            <a:ln w="9525" cap="flat" cmpd="sng">
              <a:solidFill>
                <a:srgbClr val="4A7DBA"/>
              </a:solidFill>
              <a:prstDash val="solid"/>
              <a:round/>
              <a:headEnd type="none" w="sm" len="sm"/>
              <a:tailEnd type="none" w="sm" len="sm"/>
            </a:ln>
          </p:spPr>
        </p:cxnSp>
      </p:grpSp>
      <p:sp>
        <p:nvSpPr>
          <p:cNvPr id="343" name="Google Shape;343;p53"/>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11</a:t>
            </a:fld>
            <a:endParaRPr/>
          </a:p>
        </p:txBody>
      </p:sp>
      <p:sp>
        <p:nvSpPr>
          <p:cNvPr id="3" name="Rectangle 2">
            <a:extLst>
              <a:ext uri="{FF2B5EF4-FFF2-40B4-BE49-F238E27FC236}">
                <a16:creationId xmlns:a16="http://schemas.microsoft.com/office/drawing/2014/main" id="{45B515EB-84A0-E80F-8818-675C489004C8}"/>
              </a:ext>
            </a:extLst>
          </p:cNvPr>
          <p:cNvSpPr>
            <a:spLocks noChangeArrowheads="1"/>
          </p:cNvSpPr>
          <p:nvPr/>
        </p:nvSpPr>
        <p:spPr bwMode="auto">
          <a:xfrm>
            <a:off x="567488" y="1641986"/>
            <a:ext cx="11057021"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sz="2000" b="1" dirty="0">
                <a:latin typeface="Times New Roman" panose="02020603050405020304" pitchFamily="18" charset="0"/>
                <a:cs typeface="Times New Roman" panose="02020603050405020304" pitchFamily="18" charset="0"/>
              </a:rPr>
              <a:t>Improved Accuracy:</a:t>
            </a:r>
            <a:r>
              <a:rPr lang="en-US" sz="2000" dirty="0">
                <a:latin typeface="Times New Roman" panose="02020603050405020304" pitchFamily="18" charset="0"/>
                <a:cs typeface="Times New Roman" panose="02020603050405020304" pitchFamily="18" charset="0"/>
              </a:rPr>
              <a:t> The deep neural network will effectively detect electricity theft with high precision by learning abnormal consumption patterns.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Wingdings" panose="05000000000000000000" pitchFamily="2" charset="2"/>
              <a:buChar char="ü"/>
            </a:pPr>
            <a:r>
              <a:rPr lang="en-US" altLang="en-US" sz="2000" b="1" dirty="0">
                <a:latin typeface="Times New Roman" panose="02020603050405020304" pitchFamily="18" charset="0"/>
                <a:cs typeface="Times New Roman" panose="02020603050405020304" pitchFamily="18" charset="0"/>
              </a:rPr>
              <a:t>Improved Accuracy:</a:t>
            </a:r>
            <a:r>
              <a:rPr lang="en-US" altLang="en-US" sz="2000" dirty="0">
                <a:latin typeface="Times New Roman" panose="02020603050405020304" pitchFamily="18" charset="0"/>
                <a:cs typeface="Times New Roman" panose="02020603050405020304" pitchFamily="18" charset="0"/>
              </a:rPr>
              <a:t> The deep neural network will effectively detect electricity theft with high precision by learning abnormal consumption patterns.</a:t>
            </a:r>
          </a:p>
          <a:p>
            <a:pPr marL="342900" indent="-342900" eaLnBrk="0" fontAlgn="base" hangingPunct="0">
              <a:spcBef>
                <a:spcPct val="0"/>
              </a:spcBef>
              <a:spcAft>
                <a:spcPct val="0"/>
              </a:spcAft>
              <a:buFont typeface="Wingdings" panose="05000000000000000000" pitchFamily="2" charset="2"/>
              <a:buChar char="ü"/>
            </a:pPr>
            <a:endParaRPr lang="en-US" altLang="en-US"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Data Quality: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Preprocessing techniques, including interpolation and synthetic data generation, will address missing values and class imbalance.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Optimization: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Principal Component Analysis (PCA) and Minimum Redundancy Maximum Relevance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mRMR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will help identify the most influential features for theft detection.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Superior Performance: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proposed method will outperform existing techniques when evaluated on the same dataset, demonstrating its effectiveness in smart grid security.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0070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54" descr="Image result for thank you png"/>
          <p:cNvPicPr preferRelativeResize="0"/>
          <p:nvPr/>
        </p:nvPicPr>
        <p:blipFill rotWithShape="1">
          <a:blip r:embed="rId3">
            <a:alphaModFix/>
          </a:blip>
          <a:srcRect/>
          <a:stretch/>
        </p:blipFill>
        <p:spPr>
          <a:xfrm>
            <a:off x="2438400" y="3200400"/>
            <a:ext cx="7620000" cy="3810000"/>
          </a:xfrm>
          <a:prstGeom prst="rect">
            <a:avLst/>
          </a:prstGeom>
          <a:noFill/>
          <a:ln>
            <a:noFill/>
          </a:ln>
        </p:spPr>
      </p:pic>
      <p:pic>
        <p:nvPicPr>
          <p:cNvPr id="349" name="Google Shape;349;p54"/>
          <p:cNvPicPr preferRelativeResize="0"/>
          <p:nvPr/>
        </p:nvPicPr>
        <p:blipFill rotWithShape="1">
          <a:blip r:embed="rId4">
            <a:alphaModFix/>
          </a:blip>
          <a:srcRect/>
          <a:stretch/>
        </p:blipFill>
        <p:spPr>
          <a:xfrm>
            <a:off x="3200401" y="13855"/>
            <a:ext cx="6033739" cy="3720806"/>
          </a:xfrm>
          <a:prstGeom prst="rect">
            <a:avLst/>
          </a:prstGeom>
          <a:noFill/>
          <a:ln>
            <a:noFill/>
          </a:ln>
        </p:spPr>
      </p:pic>
      <p:sp>
        <p:nvSpPr>
          <p:cNvPr id="350" name="Google Shape;350;p54"/>
          <p:cNvSpPr txBox="1">
            <a:spLocks noGrp="1"/>
          </p:cNvSpPr>
          <p:nvPr>
            <p:ph type="sldNum" idx="12"/>
          </p:nvPr>
        </p:nvSpPr>
        <p:spPr>
          <a:xfrm>
            <a:off x="8077200" y="6356353"/>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12</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898</TotalTime>
  <Words>1092</Words>
  <Application>Microsoft Office PowerPoint</Application>
  <PresentationFormat>Widescreen</PresentationFormat>
  <Paragraphs>96</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Black</vt:lpstr>
      <vt:lpstr>Bell MT</vt:lpstr>
      <vt:lpstr>Calibri</vt:lpstr>
      <vt:lpstr>Calibri Light</vt:lpstr>
      <vt:lpstr>din-2014</vt:lpstr>
      <vt:lpstr>Times New Roman</vt:lpstr>
      <vt:lpstr>Wingdings</vt:lpstr>
      <vt:lpstr>Office Theme</vt:lpstr>
      <vt:lpstr>PowerPoint Presentation</vt:lpstr>
      <vt:lpstr>TITLE</vt:lpstr>
      <vt:lpstr>OBJECTIVES</vt:lpstr>
      <vt:lpstr>EXISTING SYSTEM </vt:lpstr>
      <vt:lpstr>PROPOSED SYSYTEM</vt:lpstr>
      <vt:lpstr>ADVANTAGES OF PROPOSED SYSTEM </vt:lpstr>
      <vt:lpstr>TOOLS AND TECHNOLOGY</vt:lpstr>
      <vt:lpstr>NOVELTY</vt:lpstr>
      <vt:lpstr>ARCHITECTURE</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 Prabhu</dc:creator>
  <cp:lastModifiedBy>nanthitha r</cp:lastModifiedBy>
  <cp:revision>29</cp:revision>
  <dcterms:created xsi:type="dcterms:W3CDTF">2024-09-30T10:31:25Z</dcterms:created>
  <dcterms:modified xsi:type="dcterms:W3CDTF">2025-04-14T15:12:07Z</dcterms:modified>
</cp:coreProperties>
</file>